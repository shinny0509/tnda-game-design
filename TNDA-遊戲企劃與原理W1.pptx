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Lst>
  <p:sldSz cx="18288000" cy="10287000"/>
  <p:notesSz cx="6858000" cy="9144000"/>
  <p:embeddedFontLst>
    <p:embeddedFont>
      <p:font typeface="Tenor Sans" charset="1" panose="02000000000000000000"/>
      <p:regular r:id="rId12"/>
    </p:embeddedFont>
    <p:embeddedFont>
      <p:font typeface="Clear Sans" charset="1" panose="020B0503030202020304"/>
      <p:regular r:id="rId13"/>
    </p:embeddedFont>
    <p:embeddedFont>
      <p:font typeface="Clear Sans Bold" charset="1" panose="020B0803030202020304"/>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6.jpeg" Type="http://schemas.openxmlformats.org/officeDocument/2006/relationships/image"/><Relationship Id="rId5" Target="../media/VAHVEce_bes.mp4" Type="http://schemas.openxmlformats.org/officeDocument/2006/relationships/video"/><Relationship Id="rId6" Target="../media/VAHVEce_bes.mp4" Type="http://schemas.microsoft.com/office/2007/relationships/media"/><Relationship Id="rId7" Target="../media/image7.jpeg" Type="http://schemas.openxmlformats.org/officeDocument/2006/relationships/image"/><Relationship Id="rId8" Target="../media/VAHVEcqFKQE.mp4" Type="http://schemas.openxmlformats.org/officeDocument/2006/relationships/video"/><Relationship Id="rId9" Target="../media/VAHVEcqFKQE.mp4" Type="http://schemas.microsoft.com/office/2007/relationships/media"/></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 Id="rId4" Target="../media/image1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D1CDBE"/>
        </a:solidFill>
      </p:bgPr>
    </p:bg>
    <p:spTree>
      <p:nvGrpSpPr>
        <p:cNvPr id="1" name=""/>
        <p:cNvGrpSpPr/>
        <p:nvPr/>
      </p:nvGrpSpPr>
      <p:grpSpPr>
        <a:xfrm>
          <a:off x="0" y="0"/>
          <a:ext cx="0" cy="0"/>
          <a:chOff x="0" y="0"/>
          <a:chExt cx="0" cy="0"/>
        </a:xfrm>
      </p:grpSpPr>
      <p:grpSp>
        <p:nvGrpSpPr>
          <p:cNvPr name="Group 2" id="2"/>
          <p:cNvGrpSpPr/>
          <p:nvPr/>
        </p:nvGrpSpPr>
        <p:grpSpPr>
          <a:xfrm rot="0">
            <a:off x="666750" y="5001989"/>
            <a:ext cx="9763125" cy="3065563"/>
            <a:chOff x="0" y="0"/>
            <a:chExt cx="13017500" cy="4087418"/>
          </a:xfrm>
        </p:grpSpPr>
        <p:sp>
          <p:nvSpPr>
            <p:cNvPr name="TextBox 3" id="3"/>
            <p:cNvSpPr txBox="true"/>
            <p:nvPr/>
          </p:nvSpPr>
          <p:spPr>
            <a:xfrm rot="0">
              <a:off x="0" y="190500"/>
              <a:ext cx="13017500" cy="1943100"/>
            </a:xfrm>
            <a:prstGeom prst="rect">
              <a:avLst/>
            </a:prstGeom>
          </p:spPr>
          <p:txBody>
            <a:bodyPr anchor="t" rtlCol="false" tIns="0" lIns="0" bIns="0" rIns="0">
              <a:spAutoFit/>
            </a:bodyPr>
            <a:lstStyle/>
            <a:p>
              <a:pPr algn="l" marL="0" indent="0" lvl="0">
                <a:lnSpc>
                  <a:spcPts val="10500"/>
                </a:lnSpc>
              </a:pPr>
              <a:r>
                <a:rPr lang="en-US" sz="10500" spc="-210">
                  <a:solidFill>
                    <a:srgbClr val="14140E"/>
                  </a:solidFill>
                  <a:latin typeface="Tenor Sans"/>
                  <a:ea typeface="Tenor Sans"/>
                  <a:cs typeface="Tenor Sans"/>
                  <a:sym typeface="Tenor Sans"/>
                </a:rPr>
                <a:t>遊戲與我</a:t>
              </a:r>
            </a:p>
          </p:txBody>
        </p:sp>
        <p:sp>
          <p:nvSpPr>
            <p:cNvPr name="TextBox 4" id="4"/>
            <p:cNvSpPr txBox="true"/>
            <p:nvPr/>
          </p:nvSpPr>
          <p:spPr>
            <a:xfrm rot="0">
              <a:off x="0" y="2643644"/>
              <a:ext cx="13017500" cy="1443774"/>
            </a:xfrm>
            <a:prstGeom prst="rect">
              <a:avLst/>
            </a:prstGeom>
          </p:spPr>
          <p:txBody>
            <a:bodyPr anchor="t" rtlCol="false" tIns="0" lIns="0" bIns="0" rIns="0">
              <a:spAutoFit/>
            </a:bodyPr>
            <a:lstStyle/>
            <a:p>
              <a:pPr algn="l" marL="0" indent="0" lvl="0">
                <a:lnSpc>
                  <a:spcPts val="4480"/>
                </a:lnSpc>
                <a:spcBef>
                  <a:spcPct val="0"/>
                </a:spcBef>
              </a:pPr>
              <a:r>
                <a:rPr lang="en-US" sz="3200">
                  <a:solidFill>
                    <a:srgbClr val="14140E"/>
                  </a:solidFill>
                  <a:latin typeface="Clear Sans"/>
                  <a:ea typeface="Clear Sans"/>
                  <a:cs typeface="Clear Sans"/>
                  <a:sym typeface="Clear Sans"/>
                </a:rPr>
                <a:t>TNDA 遊戲企劃與原理｜W1  </a:t>
              </a:r>
            </a:p>
            <a:p>
              <a:pPr algn="l" marL="0" indent="0" lvl="0">
                <a:lnSpc>
                  <a:spcPts val="4480"/>
                </a:lnSpc>
                <a:spcBef>
                  <a:spcPct val="0"/>
                </a:spcBef>
              </a:pPr>
              <a:r>
                <a:rPr lang="en-US" sz="3200">
                  <a:solidFill>
                    <a:srgbClr val="14140E"/>
                  </a:solidFill>
                  <a:latin typeface="Clear Sans"/>
                  <a:ea typeface="Clear Sans"/>
                  <a:cs typeface="Clear Sans"/>
                  <a:sym typeface="Clear Sans"/>
                </a:rPr>
                <a:t>龍華科技大學  林詠鈺</a:t>
              </a:r>
            </a:p>
          </p:txBody>
        </p:sp>
      </p:grpSp>
      <p:grpSp>
        <p:nvGrpSpPr>
          <p:cNvPr name="Group 5" id="5"/>
          <p:cNvGrpSpPr/>
          <p:nvPr/>
        </p:nvGrpSpPr>
        <p:grpSpPr>
          <a:xfrm rot="0">
            <a:off x="12172950" y="0"/>
            <a:ext cx="6115050" cy="10287000"/>
            <a:chOff x="0" y="0"/>
            <a:chExt cx="947381" cy="1593725"/>
          </a:xfrm>
        </p:grpSpPr>
        <p:sp>
          <p:nvSpPr>
            <p:cNvPr name="Freeform 6" id="6"/>
            <p:cNvSpPr/>
            <p:nvPr/>
          </p:nvSpPr>
          <p:spPr>
            <a:xfrm flipH="false" flipV="false" rot="0">
              <a:off x="0" y="0"/>
              <a:ext cx="947381" cy="1593725"/>
            </a:xfrm>
            <a:custGeom>
              <a:avLst/>
              <a:gdLst/>
              <a:ahLst/>
              <a:cxnLst/>
              <a:rect r="r" b="b" t="t" l="l"/>
              <a:pathLst>
                <a:path h="1593725" w="947381">
                  <a:moveTo>
                    <a:pt x="0" y="0"/>
                  </a:moveTo>
                  <a:lnTo>
                    <a:pt x="947381" y="0"/>
                  </a:lnTo>
                  <a:lnTo>
                    <a:pt x="947381" y="1593725"/>
                  </a:lnTo>
                  <a:lnTo>
                    <a:pt x="0" y="1593725"/>
                  </a:lnTo>
                  <a:close/>
                </a:path>
              </a:pathLst>
            </a:custGeom>
            <a:blipFill>
              <a:blip r:embed="rId2"/>
              <a:stretch>
                <a:fillRect l="-32830" t="0" r="-32830" b="0"/>
              </a:stretch>
            </a:blipFill>
          </p:spPr>
        </p:sp>
      </p:grpSp>
      <p:sp>
        <p:nvSpPr>
          <p:cNvPr name="Freeform 7" id="7"/>
          <p:cNvSpPr/>
          <p:nvPr/>
        </p:nvSpPr>
        <p:spPr>
          <a:xfrm flipH="false" flipV="false" rot="0">
            <a:off x="8774635" y="7396104"/>
            <a:ext cx="6274865" cy="4114800"/>
          </a:xfrm>
          <a:custGeom>
            <a:avLst/>
            <a:gdLst/>
            <a:ahLst/>
            <a:cxnLst/>
            <a:rect r="r" b="b" t="t" l="l"/>
            <a:pathLst>
              <a:path h="4114800" w="6274865">
                <a:moveTo>
                  <a:pt x="0" y="0"/>
                </a:moveTo>
                <a:lnTo>
                  <a:pt x="6274865" y="0"/>
                </a:lnTo>
                <a:lnTo>
                  <a:pt x="6274865"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D1CDBE"/>
        </a:solidFill>
      </p:bgPr>
    </p:bg>
    <p:spTree>
      <p:nvGrpSpPr>
        <p:cNvPr id="1" name=""/>
        <p:cNvGrpSpPr/>
        <p:nvPr/>
      </p:nvGrpSpPr>
      <p:grpSpPr>
        <a:xfrm>
          <a:off x="0" y="0"/>
          <a:ext cx="0" cy="0"/>
          <a:chOff x="0" y="0"/>
          <a:chExt cx="0" cy="0"/>
        </a:xfrm>
      </p:grpSpPr>
      <p:sp>
        <p:nvSpPr>
          <p:cNvPr name="Freeform 2" id="2"/>
          <p:cNvSpPr/>
          <p:nvPr/>
        </p:nvSpPr>
        <p:spPr>
          <a:xfrm flipH="false" flipV="false" rot="0">
            <a:off x="-3137432" y="7200900"/>
            <a:ext cx="6274865" cy="4114800"/>
          </a:xfrm>
          <a:custGeom>
            <a:avLst/>
            <a:gdLst/>
            <a:ahLst/>
            <a:cxnLst/>
            <a:rect r="r" b="b" t="t" l="l"/>
            <a:pathLst>
              <a:path h="4114800" w="6274865">
                <a:moveTo>
                  <a:pt x="0" y="0"/>
                </a:moveTo>
                <a:lnTo>
                  <a:pt x="6274864" y="0"/>
                </a:lnTo>
                <a:lnTo>
                  <a:pt x="627486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3" id="3"/>
          <p:cNvGrpSpPr/>
          <p:nvPr/>
        </p:nvGrpSpPr>
        <p:grpSpPr>
          <a:xfrm rot="0">
            <a:off x="1945938" y="3612696"/>
            <a:ext cx="7198062" cy="3083712"/>
            <a:chOff x="0" y="0"/>
            <a:chExt cx="1895786" cy="812171"/>
          </a:xfrm>
        </p:grpSpPr>
        <p:sp>
          <p:nvSpPr>
            <p:cNvPr name="Freeform 4" id="4"/>
            <p:cNvSpPr/>
            <p:nvPr/>
          </p:nvSpPr>
          <p:spPr>
            <a:xfrm flipH="false" flipV="false" rot="0">
              <a:off x="0" y="0"/>
              <a:ext cx="1895786" cy="812171"/>
            </a:xfrm>
            <a:custGeom>
              <a:avLst/>
              <a:gdLst/>
              <a:ahLst/>
              <a:cxnLst/>
              <a:rect r="r" b="b" t="t" l="l"/>
              <a:pathLst>
                <a:path h="812171" w="1895786">
                  <a:moveTo>
                    <a:pt x="18284" y="0"/>
                  </a:moveTo>
                  <a:lnTo>
                    <a:pt x="1877501" y="0"/>
                  </a:lnTo>
                  <a:cubicBezTo>
                    <a:pt x="1882351" y="0"/>
                    <a:pt x="1887001" y="1926"/>
                    <a:pt x="1890431" y="5355"/>
                  </a:cubicBezTo>
                  <a:cubicBezTo>
                    <a:pt x="1893859" y="8784"/>
                    <a:pt x="1895786" y="13435"/>
                    <a:pt x="1895786" y="18284"/>
                  </a:cubicBezTo>
                  <a:lnTo>
                    <a:pt x="1895786" y="793887"/>
                  </a:lnTo>
                  <a:cubicBezTo>
                    <a:pt x="1895786" y="798736"/>
                    <a:pt x="1893859" y="803387"/>
                    <a:pt x="1890431" y="806816"/>
                  </a:cubicBezTo>
                  <a:cubicBezTo>
                    <a:pt x="1887001" y="810245"/>
                    <a:pt x="1882351" y="812171"/>
                    <a:pt x="1877501" y="812171"/>
                  </a:cubicBezTo>
                  <a:lnTo>
                    <a:pt x="18284" y="812171"/>
                  </a:lnTo>
                  <a:cubicBezTo>
                    <a:pt x="13435" y="812171"/>
                    <a:pt x="8784" y="810245"/>
                    <a:pt x="5355" y="806816"/>
                  </a:cubicBezTo>
                  <a:cubicBezTo>
                    <a:pt x="1926" y="803387"/>
                    <a:pt x="0" y="798736"/>
                    <a:pt x="0" y="793887"/>
                  </a:cubicBezTo>
                  <a:lnTo>
                    <a:pt x="0" y="18284"/>
                  </a:lnTo>
                  <a:cubicBezTo>
                    <a:pt x="0" y="13435"/>
                    <a:pt x="1926" y="8784"/>
                    <a:pt x="5355" y="5355"/>
                  </a:cubicBezTo>
                  <a:cubicBezTo>
                    <a:pt x="8784" y="1926"/>
                    <a:pt x="13435" y="0"/>
                    <a:pt x="18284" y="0"/>
                  </a:cubicBezTo>
                  <a:close/>
                </a:path>
              </a:pathLst>
            </a:custGeom>
            <a:solidFill>
              <a:srgbClr val="AFB276"/>
            </a:solidFill>
          </p:spPr>
        </p:sp>
        <p:sp>
          <p:nvSpPr>
            <p:cNvPr name="TextBox 5" id="5"/>
            <p:cNvSpPr txBox="true"/>
            <p:nvPr/>
          </p:nvSpPr>
          <p:spPr>
            <a:xfrm>
              <a:off x="0" y="-47625"/>
              <a:ext cx="1895786" cy="859796"/>
            </a:xfrm>
            <a:prstGeom prst="rect">
              <a:avLst/>
            </a:prstGeom>
          </p:spPr>
          <p:txBody>
            <a:bodyPr anchor="ctr" rtlCol="false" tIns="50800" lIns="50800" bIns="50800" rIns="50800"/>
            <a:lstStyle/>
            <a:p>
              <a:pPr algn="ctr">
                <a:lnSpc>
                  <a:spcPts val="3359"/>
                </a:lnSpc>
              </a:pPr>
            </a:p>
          </p:txBody>
        </p:sp>
      </p:grpSp>
      <p:grpSp>
        <p:nvGrpSpPr>
          <p:cNvPr name="Group 6" id="6"/>
          <p:cNvGrpSpPr/>
          <p:nvPr/>
        </p:nvGrpSpPr>
        <p:grpSpPr>
          <a:xfrm rot="0">
            <a:off x="12172950" y="0"/>
            <a:ext cx="6115050" cy="10287000"/>
            <a:chOff x="0" y="0"/>
            <a:chExt cx="947381" cy="1593725"/>
          </a:xfrm>
        </p:grpSpPr>
        <p:sp>
          <p:nvSpPr>
            <p:cNvPr name="Freeform 7" id="7"/>
            <p:cNvSpPr/>
            <p:nvPr/>
          </p:nvSpPr>
          <p:spPr>
            <a:xfrm flipH="false" flipV="false" rot="0">
              <a:off x="0" y="0"/>
              <a:ext cx="947381" cy="1593725"/>
            </a:xfrm>
            <a:custGeom>
              <a:avLst/>
              <a:gdLst/>
              <a:ahLst/>
              <a:cxnLst/>
              <a:rect r="r" b="b" t="t" l="l"/>
              <a:pathLst>
                <a:path h="1593725" w="947381">
                  <a:moveTo>
                    <a:pt x="0" y="0"/>
                  </a:moveTo>
                  <a:lnTo>
                    <a:pt x="947381" y="0"/>
                  </a:lnTo>
                  <a:lnTo>
                    <a:pt x="947381" y="1593725"/>
                  </a:lnTo>
                  <a:lnTo>
                    <a:pt x="0" y="1593725"/>
                  </a:lnTo>
                  <a:close/>
                </a:path>
              </a:pathLst>
            </a:custGeom>
            <a:blipFill>
              <a:blip r:embed="rId4"/>
              <a:stretch>
                <a:fillRect l="-217537" t="0" r="-19825" b="0"/>
              </a:stretch>
            </a:blipFill>
          </p:spPr>
        </p:sp>
      </p:grpSp>
      <p:sp>
        <p:nvSpPr>
          <p:cNvPr name="TextBox 8" id="8"/>
          <p:cNvSpPr txBox="true"/>
          <p:nvPr/>
        </p:nvSpPr>
        <p:spPr>
          <a:xfrm rot="0">
            <a:off x="525234" y="562772"/>
            <a:ext cx="8324850" cy="2114550"/>
          </a:xfrm>
          <a:prstGeom prst="rect">
            <a:avLst/>
          </a:prstGeom>
        </p:spPr>
        <p:txBody>
          <a:bodyPr anchor="t" rtlCol="false" tIns="0" lIns="0" bIns="0" rIns="0">
            <a:spAutoFit/>
          </a:bodyPr>
          <a:lstStyle/>
          <a:p>
            <a:pPr algn="l" marL="0" indent="0" lvl="0">
              <a:lnSpc>
                <a:spcPts val="8399"/>
              </a:lnSpc>
            </a:pPr>
            <a:r>
              <a:rPr lang="en-US" sz="6999" spc="-139">
                <a:solidFill>
                  <a:srgbClr val="14140E"/>
                </a:solidFill>
                <a:latin typeface="Tenor Sans"/>
                <a:ea typeface="Tenor Sans"/>
                <a:cs typeface="Tenor Sans"/>
                <a:sym typeface="Tenor Sans"/>
              </a:rPr>
              <a:t>遊戲對我來說，是甚麼？</a:t>
            </a:r>
          </a:p>
        </p:txBody>
      </p:sp>
      <p:sp>
        <p:nvSpPr>
          <p:cNvPr name="TextBox 9" id="9"/>
          <p:cNvSpPr txBox="true"/>
          <p:nvPr/>
        </p:nvSpPr>
        <p:spPr>
          <a:xfrm rot="0">
            <a:off x="2066365" y="3608070"/>
            <a:ext cx="6783719" cy="3364230"/>
          </a:xfrm>
          <a:prstGeom prst="rect">
            <a:avLst/>
          </a:prstGeom>
        </p:spPr>
        <p:txBody>
          <a:bodyPr anchor="t" rtlCol="false" tIns="0" lIns="0" bIns="0" rIns="0">
            <a:spAutoFit/>
          </a:bodyPr>
          <a:lstStyle/>
          <a:p>
            <a:pPr algn="l" marL="0" indent="0" lvl="0">
              <a:lnSpc>
                <a:spcPts val="6719"/>
              </a:lnSpc>
              <a:spcBef>
                <a:spcPct val="0"/>
              </a:spcBef>
            </a:pPr>
            <a:r>
              <a:rPr lang="en-US" sz="4800">
                <a:solidFill>
                  <a:srgbClr val="14140E"/>
                </a:solidFill>
                <a:latin typeface="Clear Sans"/>
                <a:ea typeface="Clear Sans"/>
                <a:cs typeface="Clear Sans"/>
                <a:sym typeface="Clear Sans"/>
              </a:rPr>
              <a:t>遊戲是生活的一部分，</a:t>
            </a:r>
          </a:p>
          <a:p>
            <a:pPr algn="l" marL="0" indent="0" lvl="0">
              <a:lnSpc>
                <a:spcPts val="6719"/>
              </a:lnSpc>
              <a:spcBef>
                <a:spcPct val="0"/>
              </a:spcBef>
            </a:pPr>
            <a:r>
              <a:rPr lang="en-US" sz="4800">
                <a:solidFill>
                  <a:srgbClr val="14140E"/>
                </a:solidFill>
                <a:latin typeface="Clear Sans"/>
                <a:ea typeface="Clear Sans"/>
                <a:cs typeface="Clear Sans"/>
                <a:sym typeface="Clear Sans"/>
              </a:rPr>
              <a:t>可以和朋友一起同樂或分享遊戲的樂趣與過程。</a:t>
            </a:r>
          </a:p>
          <a:p>
            <a:pPr algn="l" marL="0" indent="0" lvl="0">
              <a:lnSpc>
                <a:spcPts val="6719"/>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D1CDBE"/>
        </a:solidFill>
      </p:bgPr>
    </p:bg>
    <p:spTree>
      <p:nvGrpSpPr>
        <p:cNvPr id="1" name=""/>
        <p:cNvGrpSpPr/>
        <p:nvPr/>
      </p:nvGrpSpPr>
      <p:grpSpPr>
        <a:xfrm>
          <a:off x="0" y="0"/>
          <a:ext cx="0" cy="0"/>
          <a:chOff x="0" y="0"/>
          <a:chExt cx="0" cy="0"/>
        </a:xfrm>
      </p:grpSpPr>
      <p:grpSp>
        <p:nvGrpSpPr>
          <p:cNvPr name="Group 2" id="2"/>
          <p:cNvGrpSpPr/>
          <p:nvPr/>
        </p:nvGrpSpPr>
        <p:grpSpPr>
          <a:xfrm rot="0">
            <a:off x="12172950" y="0"/>
            <a:ext cx="6115050" cy="10287000"/>
            <a:chOff x="0" y="0"/>
            <a:chExt cx="947381" cy="1593725"/>
          </a:xfrm>
        </p:grpSpPr>
        <p:sp>
          <p:nvSpPr>
            <p:cNvPr name="Freeform 3" id="3"/>
            <p:cNvSpPr/>
            <p:nvPr/>
          </p:nvSpPr>
          <p:spPr>
            <a:xfrm flipH="false" flipV="false" rot="0">
              <a:off x="0" y="0"/>
              <a:ext cx="947381" cy="1593725"/>
            </a:xfrm>
            <a:custGeom>
              <a:avLst/>
              <a:gdLst/>
              <a:ahLst/>
              <a:cxnLst/>
              <a:rect r="r" b="b" t="t" l="l"/>
              <a:pathLst>
                <a:path h="1593725" w="947381">
                  <a:moveTo>
                    <a:pt x="0" y="0"/>
                  </a:moveTo>
                  <a:lnTo>
                    <a:pt x="947381" y="0"/>
                  </a:lnTo>
                  <a:lnTo>
                    <a:pt x="947381" y="1593725"/>
                  </a:lnTo>
                  <a:lnTo>
                    <a:pt x="0" y="1593725"/>
                  </a:lnTo>
                  <a:close/>
                </a:path>
              </a:pathLst>
            </a:custGeom>
            <a:blipFill>
              <a:blip r:embed="rId2"/>
              <a:stretch>
                <a:fillRect l="-108266" t="0" r="-90799" b="0"/>
              </a:stretch>
            </a:blipFill>
          </p:spPr>
        </p:sp>
      </p:grpSp>
      <p:grpSp>
        <p:nvGrpSpPr>
          <p:cNvPr name="Group 4" id="4"/>
          <p:cNvGrpSpPr/>
          <p:nvPr/>
        </p:nvGrpSpPr>
        <p:grpSpPr>
          <a:xfrm rot="0">
            <a:off x="671704" y="3748602"/>
            <a:ext cx="8310643" cy="3553978"/>
            <a:chOff x="0" y="0"/>
            <a:chExt cx="2188811" cy="936027"/>
          </a:xfrm>
        </p:grpSpPr>
        <p:sp>
          <p:nvSpPr>
            <p:cNvPr name="Freeform 5" id="5"/>
            <p:cNvSpPr/>
            <p:nvPr/>
          </p:nvSpPr>
          <p:spPr>
            <a:xfrm flipH="false" flipV="false" rot="0">
              <a:off x="0" y="0"/>
              <a:ext cx="2188811" cy="936027"/>
            </a:xfrm>
            <a:custGeom>
              <a:avLst/>
              <a:gdLst/>
              <a:ahLst/>
              <a:cxnLst/>
              <a:rect r="r" b="b" t="t" l="l"/>
              <a:pathLst>
                <a:path h="936027" w="2188811">
                  <a:moveTo>
                    <a:pt x="15837" y="0"/>
                  </a:moveTo>
                  <a:lnTo>
                    <a:pt x="2172975" y="0"/>
                  </a:lnTo>
                  <a:cubicBezTo>
                    <a:pt x="2177175" y="0"/>
                    <a:pt x="2181203" y="1668"/>
                    <a:pt x="2184173" y="4638"/>
                  </a:cubicBezTo>
                  <a:cubicBezTo>
                    <a:pt x="2187143" y="7608"/>
                    <a:pt x="2188811" y="11637"/>
                    <a:pt x="2188811" y="15837"/>
                  </a:cubicBezTo>
                  <a:lnTo>
                    <a:pt x="2188811" y="920190"/>
                  </a:lnTo>
                  <a:cubicBezTo>
                    <a:pt x="2188811" y="928937"/>
                    <a:pt x="2181721" y="936027"/>
                    <a:pt x="2172975" y="936027"/>
                  </a:cubicBezTo>
                  <a:lnTo>
                    <a:pt x="15837" y="936027"/>
                  </a:lnTo>
                  <a:cubicBezTo>
                    <a:pt x="7090" y="936027"/>
                    <a:pt x="0" y="928937"/>
                    <a:pt x="0" y="920190"/>
                  </a:cubicBezTo>
                  <a:lnTo>
                    <a:pt x="0" y="15837"/>
                  </a:lnTo>
                  <a:cubicBezTo>
                    <a:pt x="0" y="7090"/>
                    <a:pt x="7090" y="0"/>
                    <a:pt x="15837" y="0"/>
                  </a:cubicBezTo>
                  <a:close/>
                </a:path>
              </a:pathLst>
            </a:custGeom>
            <a:solidFill>
              <a:srgbClr val="AFB276"/>
            </a:solidFill>
          </p:spPr>
        </p:sp>
        <p:sp>
          <p:nvSpPr>
            <p:cNvPr name="TextBox 6" id="6"/>
            <p:cNvSpPr txBox="true"/>
            <p:nvPr/>
          </p:nvSpPr>
          <p:spPr>
            <a:xfrm>
              <a:off x="0" y="-47625"/>
              <a:ext cx="2188811" cy="983652"/>
            </a:xfrm>
            <a:prstGeom prst="rect">
              <a:avLst/>
            </a:prstGeom>
          </p:spPr>
          <p:txBody>
            <a:bodyPr anchor="ctr" rtlCol="false" tIns="50800" lIns="50800" bIns="50800" rIns="50800"/>
            <a:lstStyle/>
            <a:p>
              <a:pPr algn="ctr">
                <a:lnSpc>
                  <a:spcPts val="3359"/>
                </a:lnSpc>
              </a:pPr>
            </a:p>
          </p:txBody>
        </p:sp>
      </p:grpSp>
      <p:sp>
        <p:nvSpPr>
          <p:cNvPr name="TextBox 7" id="7"/>
          <p:cNvSpPr txBox="true"/>
          <p:nvPr/>
        </p:nvSpPr>
        <p:spPr>
          <a:xfrm rot="0">
            <a:off x="799012" y="3824777"/>
            <a:ext cx="9763125" cy="537845"/>
          </a:xfrm>
          <a:prstGeom prst="rect">
            <a:avLst/>
          </a:prstGeom>
        </p:spPr>
        <p:txBody>
          <a:bodyPr anchor="t" rtlCol="false" tIns="0" lIns="0" bIns="0" rIns="0">
            <a:spAutoFit/>
          </a:bodyPr>
          <a:lstStyle/>
          <a:p>
            <a:pPr algn="l" marL="0" indent="0" lvl="0">
              <a:lnSpc>
                <a:spcPts val="4480"/>
              </a:lnSpc>
              <a:spcBef>
                <a:spcPct val="0"/>
              </a:spcBef>
            </a:pPr>
            <a:r>
              <a:rPr lang="en-US" b="true" sz="3200">
                <a:solidFill>
                  <a:srgbClr val="14140E"/>
                </a:solidFill>
                <a:latin typeface="Clear Sans Bold"/>
                <a:ea typeface="Clear Sans Bold"/>
                <a:cs typeface="Clear Sans Bold"/>
                <a:sym typeface="Clear Sans Bold"/>
              </a:rPr>
              <a:t>ORI AND THE BLIND FOREST</a:t>
            </a:r>
          </a:p>
        </p:txBody>
      </p:sp>
      <p:sp>
        <p:nvSpPr>
          <p:cNvPr name="TextBox 8" id="8"/>
          <p:cNvSpPr txBox="true"/>
          <p:nvPr/>
        </p:nvSpPr>
        <p:spPr>
          <a:xfrm rot="0">
            <a:off x="799012" y="4646661"/>
            <a:ext cx="10301774" cy="2785745"/>
          </a:xfrm>
          <a:prstGeom prst="rect">
            <a:avLst/>
          </a:prstGeom>
        </p:spPr>
        <p:txBody>
          <a:bodyPr anchor="t" rtlCol="false" tIns="0" lIns="0" bIns="0" rIns="0">
            <a:spAutoFit/>
          </a:bodyPr>
          <a:lstStyle/>
          <a:p>
            <a:pPr algn="l" marL="0" indent="0" lvl="0">
              <a:lnSpc>
                <a:spcPts val="4480"/>
              </a:lnSpc>
              <a:spcBef>
                <a:spcPct val="0"/>
              </a:spcBef>
            </a:pPr>
            <a:r>
              <a:rPr lang="en-US" sz="3200">
                <a:solidFill>
                  <a:srgbClr val="14140E"/>
                </a:solidFill>
                <a:latin typeface="Clear Sans"/>
                <a:ea typeface="Clear Sans"/>
                <a:cs typeface="Clear Sans"/>
                <a:sym typeface="Clear Sans"/>
              </a:rPr>
              <a:t>玩遊戲</a:t>
            </a:r>
            <a:r>
              <a:rPr lang="en-US" sz="3200">
                <a:solidFill>
                  <a:srgbClr val="14140E"/>
                </a:solidFill>
                <a:latin typeface="Clear Sans"/>
                <a:ea typeface="Clear Sans"/>
                <a:cs typeface="Clear Sans"/>
                <a:sym typeface="Clear Sans"/>
              </a:rPr>
              <a:t>第一次給了我震撼的感覺，</a:t>
            </a:r>
          </a:p>
          <a:p>
            <a:pPr algn="l" marL="0" indent="0" lvl="0">
              <a:lnSpc>
                <a:spcPts val="4480"/>
              </a:lnSpc>
              <a:spcBef>
                <a:spcPct val="0"/>
              </a:spcBef>
            </a:pPr>
            <a:r>
              <a:rPr lang="en-US" sz="3200">
                <a:solidFill>
                  <a:srgbClr val="14140E"/>
                </a:solidFill>
                <a:latin typeface="Clear Sans"/>
                <a:ea typeface="Clear Sans"/>
                <a:cs typeface="Clear Sans"/>
                <a:sym typeface="Clear Sans"/>
              </a:rPr>
              <a:t>並在我心中留下難以忘記的瞬間，</a:t>
            </a:r>
          </a:p>
          <a:p>
            <a:pPr algn="l" marL="0" indent="0" lvl="0">
              <a:lnSpc>
                <a:spcPts val="4480"/>
              </a:lnSpc>
              <a:spcBef>
                <a:spcPct val="0"/>
              </a:spcBef>
            </a:pPr>
            <a:r>
              <a:rPr lang="en-US" sz="3200">
                <a:solidFill>
                  <a:srgbClr val="14140E"/>
                </a:solidFill>
                <a:latin typeface="Clear Sans"/>
                <a:ea typeface="Clear Sans"/>
                <a:cs typeface="Clear Sans"/>
                <a:sym typeface="Clear Sans"/>
              </a:rPr>
              <a:t>讓我產生想做遊戲的念頭，</a:t>
            </a:r>
          </a:p>
          <a:p>
            <a:pPr algn="l" marL="0" indent="0" lvl="0">
              <a:lnSpc>
                <a:spcPts val="4480"/>
              </a:lnSpc>
              <a:spcBef>
                <a:spcPct val="0"/>
              </a:spcBef>
            </a:pPr>
            <a:r>
              <a:rPr lang="en-US" b="true" sz="3200">
                <a:solidFill>
                  <a:srgbClr val="14140E"/>
                </a:solidFill>
                <a:latin typeface="Clear Sans Bold"/>
                <a:ea typeface="Clear Sans Bold"/>
                <a:cs typeface="Clear Sans Bold"/>
                <a:sym typeface="Clear Sans Bold"/>
              </a:rPr>
              <a:t>我希望也能做出這樣的作品。</a:t>
            </a:r>
          </a:p>
          <a:p>
            <a:pPr algn="l" marL="0" indent="0" lvl="0">
              <a:lnSpc>
                <a:spcPts val="4480"/>
              </a:lnSpc>
              <a:spcBef>
                <a:spcPct val="0"/>
              </a:spcBef>
            </a:pPr>
          </a:p>
        </p:txBody>
      </p:sp>
      <p:sp>
        <p:nvSpPr>
          <p:cNvPr name="TextBox 9" id="9"/>
          <p:cNvSpPr txBox="true"/>
          <p:nvPr/>
        </p:nvSpPr>
        <p:spPr>
          <a:xfrm rot="0">
            <a:off x="328747" y="577482"/>
            <a:ext cx="9763125" cy="2111895"/>
          </a:xfrm>
          <a:prstGeom prst="rect">
            <a:avLst/>
          </a:prstGeom>
        </p:spPr>
        <p:txBody>
          <a:bodyPr anchor="t" rtlCol="false" tIns="0" lIns="0" bIns="0" rIns="0">
            <a:spAutoFit/>
          </a:bodyPr>
          <a:lstStyle/>
          <a:p>
            <a:pPr algn="l" marL="0" indent="0" lvl="0">
              <a:lnSpc>
                <a:spcPts val="8399"/>
              </a:lnSpc>
            </a:pPr>
            <a:r>
              <a:rPr lang="en-US" sz="6999" spc="-139">
                <a:solidFill>
                  <a:srgbClr val="14140E"/>
                </a:solidFill>
                <a:latin typeface="Tenor Sans"/>
                <a:ea typeface="Tenor Sans"/>
                <a:cs typeface="Tenor Sans"/>
                <a:sym typeface="Tenor Sans"/>
              </a:rPr>
              <a:t>我最想推薦給別人的一款遊戲？</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D1CDBE"/>
        </a:solidFill>
      </p:bgPr>
    </p:bg>
    <p:spTree>
      <p:nvGrpSpPr>
        <p:cNvPr id="1" name=""/>
        <p:cNvGrpSpPr/>
        <p:nvPr/>
      </p:nvGrpSpPr>
      <p:grpSpPr>
        <a:xfrm>
          <a:off x="0" y="0"/>
          <a:ext cx="0" cy="0"/>
          <a:chOff x="0" y="0"/>
          <a:chExt cx="0" cy="0"/>
        </a:xfrm>
      </p:grpSpPr>
      <p:sp>
        <p:nvSpPr>
          <p:cNvPr name="Freeform 2" id="2"/>
          <p:cNvSpPr/>
          <p:nvPr/>
        </p:nvSpPr>
        <p:spPr>
          <a:xfrm flipH="false" flipV="false" rot="0">
            <a:off x="-3137432" y="7200900"/>
            <a:ext cx="6274865" cy="4114800"/>
          </a:xfrm>
          <a:custGeom>
            <a:avLst/>
            <a:gdLst/>
            <a:ahLst/>
            <a:cxnLst/>
            <a:rect r="r" b="b" t="t" l="l"/>
            <a:pathLst>
              <a:path h="4114800" w="6274865">
                <a:moveTo>
                  <a:pt x="0" y="0"/>
                </a:moveTo>
                <a:lnTo>
                  <a:pt x="6274864" y="0"/>
                </a:lnTo>
                <a:lnTo>
                  <a:pt x="627486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pic>
        <p:nvPicPr>
          <p:cNvPr name="Picture 3" id="3">
            <a:hlinkClick action="ppaction://media"/>
          </p:cNvPr>
          <p:cNvPicPr>
            <a:picLocks noChangeAspect="true"/>
          </p:cNvPicPr>
          <p:nvPr>
            <a:videoFile r:link="rId5"/>
            <p:extLst>
              <p:ext uri="{DAA4B4D4-6D71-4841-9C94-3DE7FCFB9230}">
                <p14:media xmlns:p14="http://schemas.microsoft.com/office/powerpoint/2010/main" r:embed="rId6"/>
              </p:ext>
            </p:extLst>
          </p:nvPr>
        </p:nvPicPr>
        <p:blipFill>
          <a:blip r:embed="rId4"/>
          <a:srcRect l="0" t="0" r="0" b="0"/>
          <a:stretch>
            <a:fillRect/>
          </a:stretch>
        </p:blipFill>
        <p:spPr>
          <a:xfrm flipH="false" flipV="false" rot="0">
            <a:off x="10888475" y="501788"/>
            <a:ext cx="6658214" cy="3745245"/>
          </a:xfrm>
          <a:prstGeom prst="rect">
            <a:avLst/>
          </a:prstGeom>
        </p:spPr>
      </p:pic>
      <p:pic>
        <p:nvPicPr>
          <p:cNvPr name="Picture 4" id="4">
            <a:hlinkClick action="ppaction://media"/>
          </p:cNvPr>
          <p:cNvPicPr>
            <a:picLocks noChangeAspect="true"/>
          </p:cNvPicPr>
          <p:nvPr>
            <a:videoFile r:link="rId8"/>
            <p:extLst>
              <p:ext uri="{DAA4B4D4-6D71-4841-9C94-3DE7FCFB9230}">
                <p14:media xmlns:p14="http://schemas.microsoft.com/office/powerpoint/2010/main" r:embed="rId9"/>
              </p:ext>
            </p:extLst>
          </p:nvPr>
        </p:nvPicPr>
        <p:blipFill>
          <a:blip r:embed="rId7"/>
          <a:srcRect l="0" t="0" r="0" b="0"/>
          <a:stretch>
            <a:fillRect/>
          </a:stretch>
        </p:blipFill>
        <p:spPr>
          <a:xfrm flipH="false" flipV="false" rot="0">
            <a:off x="10888475" y="5718796"/>
            <a:ext cx="6658214" cy="3745245"/>
          </a:xfrm>
          <a:prstGeom prst="rect">
            <a:avLst/>
          </a:prstGeom>
        </p:spPr>
      </p:pic>
      <p:sp>
        <p:nvSpPr>
          <p:cNvPr name="TextBox 5" id="5"/>
          <p:cNvSpPr txBox="true"/>
          <p:nvPr/>
        </p:nvSpPr>
        <p:spPr>
          <a:xfrm rot="0">
            <a:off x="534488" y="797905"/>
            <a:ext cx="8324850" cy="2114550"/>
          </a:xfrm>
          <a:prstGeom prst="rect">
            <a:avLst/>
          </a:prstGeom>
        </p:spPr>
        <p:txBody>
          <a:bodyPr anchor="t" rtlCol="false" tIns="0" lIns="0" bIns="0" rIns="0">
            <a:spAutoFit/>
          </a:bodyPr>
          <a:lstStyle/>
          <a:p>
            <a:pPr algn="l" marL="0" indent="0" lvl="0">
              <a:lnSpc>
                <a:spcPts val="8399"/>
              </a:lnSpc>
            </a:pPr>
            <a:r>
              <a:rPr lang="en-US" sz="6999" spc="-139">
                <a:solidFill>
                  <a:srgbClr val="14140E"/>
                </a:solidFill>
                <a:latin typeface="Tenor Sans"/>
                <a:ea typeface="Tenor Sans"/>
                <a:cs typeface="Tenor Sans"/>
                <a:sym typeface="Tenor Sans"/>
              </a:rPr>
              <a:t>我認為的</a:t>
            </a:r>
            <a:r>
              <a:rPr lang="en-US" sz="6999" spc="-139">
                <a:solidFill>
                  <a:srgbClr val="14140E"/>
                </a:solidFill>
                <a:latin typeface="Tenor Sans"/>
                <a:ea typeface="Tenor Sans"/>
                <a:cs typeface="Tenor Sans"/>
                <a:sym typeface="Tenor Sans"/>
              </a:rPr>
              <a:t>遊戲，是甚麼？</a:t>
            </a:r>
          </a:p>
        </p:txBody>
      </p:sp>
      <p:grpSp>
        <p:nvGrpSpPr>
          <p:cNvPr name="Group 6" id="6"/>
          <p:cNvGrpSpPr/>
          <p:nvPr/>
        </p:nvGrpSpPr>
        <p:grpSpPr>
          <a:xfrm rot="0">
            <a:off x="1097882" y="4056397"/>
            <a:ext cx="8046118" cy="3083712"/>
            <a:chOff x="0" y="0"/>
            <a:chExt cx="2119142" cy="812171"/>
          </a:xfrm>
        </p:grpSpPr>
        <p:sp>
          <p:nvSpPr>
            <p:cNvPr name="Freeform 7" id="7"/>
            <p:cNvSpPr/>
            <p:nvPr/>
          </p:nvSpPr>
          <p:spPr>
            <a:xfrm flipH="false" flipV="false" rot="0">
              <a:off x="0" y="0"/>
              <a:ext cx="2119142" cy="812171"/>
            </a:xfrm>
            <a:custGeom>
              <a:avLst/>
              <a:gdLst/>
              <a:ahLst/>
              <a:cxnLst/>
              <a:rect r="r" b="b" t="t" l="l"/>
              <a:pathLst>
                <a:path h="812171" w="2119142">
                  <a:moveTo>
                    <a:pt x="16357" y="0"/>
                  </a:moveTo>
                  <a:lnTo>
                    <a:pt x="2102785" y="0"/>
                  </a:lnTo>
                  <a:cubicBezTo>
                    <a:pt x="2111819" y="0"/>
                    <a:pt x="2119142" y="7323"/>
                    <a:pt x="2119142" y="16357"/>
                  </a:cubicBezTo>
                  <a:lnTo>
                    <a:pt x="2119142" y="795814"/>
                  </a:lnTo>
                  <a:cubicBezTo>
                    <a:pt x="2119142" y="804848"/>
                    <a:pt x="2111819" y="812171"/>
                    <a:pt x="2102785" y="812171"/>
                  </a:cubicBezTo>
                  <a:lnTo>
                    <a:pt x="16357" y="812171"/>
                  </a:lnTo>
                  <a:cubicBezTo>
                    <a:pt x="7323" y="812171"/>
                    <a:pt x="0" y="804848"/>
                    <a:pt x="0" y="795814"/>
                  </a:cubicBezTo>
                  <a:lnTo>
                    <a:pt x="0" y="16357"/>
                  </a:lnTo>
                  <a:cubicBezTo>
                    <a:pt x="0" y="7323"/>
                    <a:pt x="7323" y="0"/>
                    <a:pt x="16357" y="0"/>
                  </a:cubicBezTo>
                  <a:close/>
                </a:path>
              </a:pathLst>
            </a:custGeom>
            <a:solidFill>
              <a:srgbClr val="AFB276"/>
            </a:solidFill>
          </p:spPr>
        </p:sp>
        <p:sp>
          <p:nvSpPr>
            <p:cNvPr name="TextBox 8" id="8"/>
            <p:cNvSpPr txBox="true"/>
            <p:nvPr/>
          </p:nvSpPr>
          <p:spPr>
            <a:xfrm>
              <a:off x="0" y="-47625"/>
              <a:ext cx="2119142" cy="859796"/>
            </a:xfrm>
            <a:prstGeom prst="rect">
              <a:avLst/>
            </a:prstGeom>
          </p:spPr>
          <p:txBody>
            <a:bodyPr anchor="ctr" rtlCol="false" tIns="50800" lIns="50800" bIns="50800" rIns="50800"/>
            <a:lstStyle/>
            <a:p>
              <a:pPr algn="ctr">
                <a:lnSpc>
                  <a:spcPts val="3359"/>
                </a:lnSpc>
              </a:pPr>
            </a:p>
          </p:txBody>
        </p:sp>
      </p:grpSp>
      <p:sp>
        <p:nvSpPr>
          <p:cNvPr name="TextBox 9" id="9"/>
          <p:cNvSpPr txBox="true"/>
          <p:nvPr/>
        </p:nvSpPr>
        <p:spPr>
          <a:xfrm rot="0">
            <a:off x="1028700" y="4512403"/>
            <a:ext cx="8353653" cy="2171700"/>
          </a:xfrm>
          <a:prstGeom prst="rect">
            <a:avLst/>
          </a:prstGeom>
        </p:spPr>
        <p:txBody>
          <a:bodyPr anchor="t" rtlCol="false" tIns="0" lIns="0" bIns="0" rIns="0">
            <a:spAutoFit/>
          </a:bodyPr>
          <a:lstStyle/>
          <a:p>
            <a:pPr algn="ctr">
              <a:lnSpc>
                <a:spcPts val="5759"/>
              </a:lnSpc>
              <a:spcBef>
                <a:spcPct val="0"/>
              </a:spcBef>
            </a:pPr>
            <a:r>
              <a:rPr lang="en-US" sz="4800" spc="-96">
                <a:solidFill>
                  <a:srgbClr val="14140E"/>
                </a:solidFill>
                <a:latin typeface="Tenor Sans"/>
                <a:ea typeface="Tenor Sans"/>
                <a:cs typeface="Tenor Sans"/>
                <a:sym typeface="Tenor Sans"/>
              </a:rPr>
              <a:t>可以讓人留下許多美好瞬間，一提到名字就能聯想到畫面的互動式藝術。</a:t>
            </a:r>
          </a:p>
        </p:txBody>
      </p:sp>
    </p:spTree>
  </p:cSld>
  <p:clrMapOvr>
    <a:masterClrMapping/>
  </p:clrMapOvr>
  <p:timing>
    <p:tnLst>
      <p:par>
        <p:cTn dur="indefinite" restart="never" nodeType="tmRoot">
          <p:childTnLst>
            <p:video>
              <p:cMediaNode vol="0">
                <p:cTn fill="hold" display="false">
                  <p:stCondLst>
                    <p:cond delay="indefinite"/>
                  </p:stCondLst>
                </p:cTn>
                <p:tgtEl>
                  <p:spTgt spid="3"/>
                </p:tgtEl>
              </p:cMediaNode>
            </p:video>
            <p:video>
              <p:cMediaNode vol="0">
                <p:cTn fill="hold" display="false">
                  <p:stCondLst>
                    <p:cond delay="indefinite"/>
                  </p:stCondLst>
                </p:cTn>
                <p:tgtEl>
                  <p:spTgt spid="4"/>
                </p:tgtEl>
              </p:cMediaNode>
            </p:video>
          </p:childTnLst>
        </p:cTn>
      </p:par>
    </p:tnLst>
  </p:timing>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D1CDBE"/>
        </a:solidFill>
      </p:bgPr>
    </p:bg>
    <p:spTree>
      <p:nvGrpSpPr>
        <p:cNvPr id="1" name=""/>
        <p:cNvGrpSpPr/>
        <p:nvPr/>
      </p:nvGrpSpPr>
      <p:grpSpPr>
        <a:xfrm>
          <a:off x="0" y="0"/>
          <a:ext cx="0" cy="0"/>
          <a:chOff x="0" y="0"/>
          <a:chExt cx="0" cy="0"/>
        </a:xfrm>
      </p:grpSpPr>
      <p:sp>
        <p:nvSpPr>
          <p:cNvPr name="Freeform 2" id="2"/>
          <p:cNvSpPr/>
          <p:nvPr/>
        </p:nvSpPr>
        <p:spPr>
          <a:xfrm flipH="false" flipV="false" rot="0">
            <a:off x="7211560" y="1700131"/>
            <a:ext cx="3864880" cy="1652236"/>
          </a:xfrm>
          <a:custGeom>
            <a:avLst/>
            <a:gdLst/>
            <a:ahLst/>
            <a:cxnLst/>
            <a:rect r="r" b="b" t="t" l="l"/>
            <a:pathLst>
              <a:path h="1652236" w="3864880">
                <a:moveTo>
                  <a:pt x="0" y="0"/>
                </a:moveTo>
                <a:lnTo>
                  <a:pt x="3864880" y="0"/>
                </a:lnTo>
                <a:lnTo>
                  <a:pt x="3864880" y="1652236"/>
                </a:lnTo>
                <a:lnTo>
                  <a:pt x="0" y="1652236"/>
                </a:lnTo>
                <a:lnTo>
                  <a:pt x="0" y="0"/>
                </a:lnTo>
                <a:close/>
              </a:path>
            </a:pathLst>
          </a:custGeom>
          <a:blipFill>
            <a:blip r:embed="rId2"/>
            <a:stretch>
              <a:fillRect l="0" t="0" r="0" b="0"/>
            </a:stretch>
          </a:blipFill>
        </p:spPr>
      </p:sp>
      <p:grpSp>
        <p:nvGrpSpPr>
          <p:cNvPr name="Group 3" id="3"/>
          <p:cNvGrpSpPr/>
          <p:nvPr/>
        </p:nvGrpSpPr>
        <p:grpSpPr>
          <a:xfrm rot="0">
            <a:off x="1028700" y="3352367"/>
            <a:ext cx="8046118" cy="1717003"/>
            <a:chOff x="0" y="0"/>
            <a:chExt cx="2119142" cy="452215"/>
          </a:xfrm>
        </p:grpSpPr>
        <p:sp>
          <p:nvSpPr>
            <p:cNvPr name="Freeform 4" id="4"/>
            <p:cNvSpPr/>
            <p:nvPr/>
          </p:nvSpPr>
          <p:spPr>
            <a:xfrm flipH="false" flipV="false" rot="0">
              <a:off x="0" y="0"/>
              <a:ext cx="2119142" cy="452215"/>
            </a:xfrm>
            <a:custGeom>
              <a:avLst/>
              <a:gdLst/>
              <a:ahLst/>
              <a:cxnLst/>
              <a:rect r="r" b="b" t="t" l="l"/>
              <a:pathLst>
                <a:path h="452215" w="2119142">
                  <a:moveTo>
                    <a:pt x="16357" y="0"/>
                  </a:moveTo>
                  <a:lnTo>
                    <a:pt x="2102785" y="0"/>
                  </a:lnTo>
                  <a:cubicBezTo>
                    <a:pt x="2111819" y="0"/>
                    <a:pt x="2119142" y="7323"/>
                    <a:pt x="2119142" y="16357"/>
                  </a:cubicBezTo>
                  <a:lnTo>
                    <a:pt x="2119142" y="435858"/>
                  </a:lnTo>
                  <a:cubicBezTo>
                    <a:pt x="2119142" y="444891"/>
                    <a:pt x="2111819" y="452215"/>
                    <a:pt x="2102785" y="452215"/>
                  </a:cubicBezTo>
                  <a:lnTo>
                    <a:pt x="16357" y="452215"/>
                  </a:lnTo>
                  <a:cubicBezTo>
                    <a:pt x="7323" y="452215"/>
                    <a:pt x="0" y="444891"/>
                    <a:pt x="0" y="435858"/>
                  </a:cubicBezTo>
                  <a:lnTo>
                    <a:pt x="0" y="16357"/>
                  </a:lnTo>
                  <a:cubicBezTo>
                    <a:pt x="0" y="7323"/>
                    <a:pt x="7323" y="0"/>
                    <a:pt x="16357" y="0"/>
                  </a:cubicBezTo>
                  <a:close/>
                </a:path>
              </a:pathLst>
            </a:custGeom>
            <a:solidFill>
              <a:srgbClr val="AFB276"/>
            </a:solidFill>
          </p:spPr>
        </p:sp>
        <p:sp>
          <p:nvSpPr>
            <p:cNvPr name="TextBox 5" id="5"/>
            <p:cNvSpPr txBox="true"/>
            <p:nvPr/>
          </p:nvSpPr>
          <p:spPr>
            <a:xfrm>
              <a:off x="0" y="-47625"/>
              <a:ext cx="2119142" cy="499840"/>
            </a:xfrm>
            <a:prstGeom prst="rect">
              <a:avLst/>
            </a:prstGeom>
          </p:spPr>
          <p:txBody>
            <a:bodyPr anchor="ctr" rtlCol="false" tIns="50800" lIns="50800" bIns="50800" rIns="50800"/>
            <a:lstStyle/>
            <a:p>
              <a:pPr algn="ctr">
                <a:lnSpc>
                  <a:spcPts val="3359"/>
                </a:lnSpc>
              </a:pPr>
            </a:p>
          </p:txBody>
        </p:sp>
      </p:grpSp>
      <p:grpSp>
        <p:nvGrpSpPr>
          <p:cNvPr name="Group 6" id="6"/>
          <p:cNvGrpSpPr/>
          <p:nvPr/>
        </p:nvGrpSpPr>
        <p:grpSpPr>
          <a:xfrm rot="0">
            <a:off x="9476339" y="3352367"/>
            <a:ext cx="8046118" cy="1717003"/>
            <a:chOff x="0" y="0"/>
            <a:chExt cx="2119142" cy="452215"/>
          </a:xfrm>
        </p:grpSpPr>
        <p:sp>
          <p:nvSpPr>
            <p:cNvPr name="Freeform 7" id="7"/>
            <p:cNvSpPr/>
            <p:nvPr/>
          </p:nvSpPr>
          <p:spPr>
            <a:xfrm flipH="false" flipV="false" rot="0">
              <a:off x="0" y="0"/>
              <a:ext cx="2119142" cy="452215"/>
            </a:xfrm>
            <a:custGeom>
              <a:avLst/>
              <a:gdLst/>
              <a:ahLst/>
              <a:cxnLst/>
              <a:rect r="r" b="b" t="t" l="l"/>
              <a:pathLst>
                <a:path h="452215" w="2119142">
                  <a:moveTo>
                    <a:pt x="16357" y="0"/>
                  </a:moveTo>
                  <a:lnTo>
                    <a:pt x="2102785" y="0"/>
                  </a:lnTo>
                  <a:cubicBezTo>
                    <a:pt x="2111819" y="0"/>
                    <a:pt x="2119142" y="7323"/>
                    <a:pt x="2119142" y="16357"/>
                  </a:cubicBezTo>
                  <a:lnTo>
                    <a:pt x="2119142" y="435858"/>
                  </a:lnTo>
                  <a:cubicBezTo>
                    <a:pt x="2119142" y="444891"/>
                    <a:pt x="2111819" y="452215"/>
                    <a:pt x="2102785" y="452215"/>
                  </a:cubicBezTo>
                  <a:lnTo>
                    <a:pt x="16357" y="452215"/>
                  </a:lnTo>
                  <a:cubicBezTo>
                    <a:pt x="7323" y="452215"/>
                    <a:pt x="0" y="444891"/>
                    <a:pt x="0" y="435858"/>
                  </a:cubicBezTo>
                  <a:lnTo>
                    <a:pt x="0" y="16357"/>
                  </a:lnTo>
                  <a:cubicBezTo>
                    <a:pt x="0" y="7323"/>
                    <a:pt x="7323" y="0"/>
                    <a:pt x="16357" y="0"/>
                  </a:cubicBezTo>
                  <a:close/>
                </a:path>
              </a:pathLst>
            </a:custGeom>
            <a:solidFill>
              <a:srgbClr val="AFB276"/>
            </a:solidFill>
          </p:spPr>
        </p:sp>
        <p:sp>
          <p:nvSpPr>
            <p:cNvPr name="TextBox 8" id="8"/>
            <p:cNvSpPr txBox="true"/>
            <p:nvPr/>
          </p:nvSpPr>
          <p:spPr>
            <a:xfrm>
              <a:off x="0" y="-47625"/>
              <a:ext cx="2119142" cy="499840"/>
            </a:xfrm>
            <a:prstGeom prst="rect">
              <a:avLst/>
            </a:prstGeom>
          </p:spPr>
          <p:txBody>
            <a:bodyPr anchor="ctr" rtlCol="false" tIns="50800" lIns="50800" bIns="50800" rIns="50800"/>
            <a:lstStyle/>
            <a:p>
              <a:pPr algn="ctr">
                <a:lnSpc>
                  <a:spcPts val="3359"/>
                </a:lnSpc>
              </a:pPr>
            </a:p>
          </p:txBody>
        </p:sp>
      </p:grpSp>
      <p:sp>
        <p:nvSpPr>
          <p:cNvPr name="Freeform 9" id="9"/>
          <p:cNvSpPr/>
          <p:nvPr/>
        </p:nvSpPr>
        <p:spPr>
          <a:xfrm flipH="false" flipV="false" rot="0">
            <a:off x="11219115" y="5143500"/>
            <a:ext cx="4867131" cy="5289933"/>
          </a:xfrm>
          <a:custGeom>
            <a:avLst/>
            <a:gdLst/>
            <a:ahLst/>
            <a:cxnLst/>
            <a:rect r="r" b="b" t="t" l="l"/>
            <a:pathLst>
              <a:path h="5289933" w="4867131">
                <a:moveTo>
                  <a:pt x="0" y="0"/>
                </a:moveTo>
                <a:lnTo>
                  <a:pt x="4867131" y="0"/>
                </a:lnTo>
                <a:lnTo>
                  <a:pt x="4867131" y="5289933"/>
                </a:lnTo>
                <a:lnTo>
                  <a:pt x="0" y="5289933"/>
                </a:lnTo>
                <a:lnTo>
                  <a:pt x="0" y="0"/>
                </a:lnTo>
                <a:close/>
              </a:path>
            </a:pathLst>
          </a:custGeom>
          <a:blipFill>
            <a:blip r:embed="rId3"/>
            <a:stretch>
              <a:fillRect l="0" t="0" r="0" b="0"/>
            </a:stretch>
          </a:blipFill>
        </p:spPr>
      </p:sp>
      <p:sp>
        <p:nvSpPr>
          <p:cNvPr name="Freeform 10" id="10"/>
          <p:cNvSpPr/>
          <p:nvPr/>
        </p:nvSpPr>
        <p:spPr>
          <a:xfrm flipH="false" flipV="false" rot="0">
            <a:off x="1124761" y="6045908"/>
            <a:ext cx="8019239" cy="2173079"/>
          </a:xfrm>
          <a:custGeom>
            <a:avLst/>
            <a:gdLst/>
            <a:ahLst/>
            <a:cxnLst/>
            <a:rect r="r" b="b" t="t" l="l"/>
            <a:pathLst>
              <a:path h="2173079" w="8019239">
                <a:moveTo>
                  <a:pt x="0" y="0"/>
                </a:moveTo>
                <a:lnTo>
                  <a:pt x="8019239" y="0"/>
                </a:lnTo>
                <a:lnTo>
                  <a:pt x="8019239" y="2173079"/>
                </a:lnTo>
                <a:lnTo>
                  <a:pt x="0" y="2173079"/>
                </a:lnTo>
                <a:lnTo>
                  <a:pt x="0" y="0"/>
                </a:lnTo>
                <a:close/>
              </a:path>
            </a:pathLst>
          </a:custGeom>
          <a:blipFill>
            <a:blip r:embed="rId4"/>
            <a:stretch>
              <a:fillRect l="0" t="0" r="0" b="0"/>
            </a:stretch>
          </a:blipFill>
        </p:spPr>
      </p:sp>
      <p:sp>
        <p:nvSpPr>
          <p:cNvPr name="TextBox 11" id="11"/>
          <p:cNvSpPr txBox="true"/>
          <p:nvPr/>
        </p:nvSpPr>
        <p:spPr>
          <a:xfrm rot="0">
            <a:off x="3916859" y="367777"/>
            <a:ext cx="10454283" cy="1057275"/>
          </a:xfrm>
          <a:prstGeom prst="rect">
            <a:avLst/>
          </a:prstGeom>
        </p:spPr>
        <p:txBody>
          <a:bodyPr anchor="t" rtlCol="false" tIns="0" lIns="0" bIns="0" rIns="0">
            <a:spAutoFit/>
          </a:bodyPr>
          <a:lstStyle/>
          <a:p>
            <a:pPr algn="ctr">
              <a:lnSpc>
                <a:spcPts val="8399"/>
              </a:lnSpc>
              <a:spcBef>
                <a:spcPct val="0"/>
              </a:spcBef>
            </a:pPr>
            <a:r>
              <a:rPr lang="en-US" sz="6999" spc="-139">
                <a:solidFill>
                  <a:srgbClr val="14140E"/>
                </a:solidFill>
                <a:latin typeface="Tenor Sans"/>
                <a:ea typeface="Tenor Sans"/>
                <a:cs typeface="Tenor Sans"/>
                <a:sym typeface="Tenor Sans"/>
              </a:rPr>
              <a:t>對我影響最大的一款遊戲？</a:t>
            </a:r>
          </a:p>
        </p:txBody>
      </p:sp>
      <p:sp>
        <p:nvSpPr>
          <p:cNvPr name="TextBox 12" id="12"/>
          <p:cNvSpPr txBox="true"/>
          <p:nvPr/>
        </p:nvSpPr>
        <p:spPr>
          <a:xfrm rot="0">
            <a:off x="1124761" y="3472273"/>
            <a:ext cx="7853996" cy="1447800"/>
          </a:xfrm>
          <a:prstGeom prst="rect">
            <a:avLst/>
          </a:prstGeom>
        </p:spPr>
        <p:txBody>
          <a:bodyPr anchor="t" rtlCol="false" tIns="0" lIns="0" bIns="0" rIns="0">
            <a:spAutoFit/>
          </a:bodyPr>
          <a:lstStyle/>
          <a:p>
            <a:pPr algn="ctr">
              <a:lnSpc>
                <a:spcPts val="5759"/>
              </a:lnSpc>
              <a:spcBef>
                <a:spcPct val="0"/>
              </a:spcBef>
            </a:pPr>
            <a:r>
              <a:rPr lang="en-US" sz="4800" spc="-96">
                <a:solidFill>
                  <a:srgbClr val="14140E"/>
                </a:solidFill>
                <a:latin typeface="Tenor Sans"/>
                <a:ea typeface="Tenor Sans"/>
                <a:cs typeface="Tenor Sans"/>
                <a:sym typeface="Tenor Sans"/>
              </a:rPr>
              <a:t>追求與朋友</a:t>
            </a:r>
            <a:r>
              <a:rPr lang="en-US" sz="4800" spc="-96">
                <a:solidFill>
                  <a:srgbClr val="14140E"/>
                </a:solidFill>
                <a:latin typeface="Tenor Sans"/>
                <a:ea typeface="Tenor Sans"/>
                <a:cs typeface="Tenor Sans"/>
                <a:sym typeface="Tenor Sans"/>
              </a:rPr>
              <a:t>一同過關的成就感，即便過程很艱辛</a:t>
            </a:r>
          </a:p>
        </p:txBody>
      </p:sp>
      <p:sp>
        <p:nvSpPr>
          <p:cNvPr name="TextBox 13" id="13"/>
          <p:cNvSpPr txBox="true"/>
          <p:nvPr/>
        </p:nvSpPr>
        <p:spPr>
          <a:xfrm rot="0">
            <a:off x="9572400" y="3848918"/>
            <a:ext cx="7853996" cy="723900"/>
          </a:xfrm>
          <a:prstGeom prst="rect">
            <a:avLst/>
          </a:prstGeom>
        </p:spPr>
        <p:txBody>
          <a:bodyPr anchor="t" rtlCol="false" tIns="0" lIns="0" bIns="0" rIns="0">
            <a:spAutoFit/>
          </a:bodyPr>
          <a:lstStyle/>
          <a:p>
            <a:pPr algn="ctr">
              <a:lnSpc>
                <a:spcPts val="5759"/>
              </a:lnSpc>
              <a:spcBef>
                <a:spcPct val="0"/>
              </a:spcBef>
            </a:pPr>
            <a:r>
              <a:rPr lang="en-US" sz="4800" spc="-96">
                <a:solidFill>
                  <a:srgbClr val="14140E"/>
                </a:solidFill>
                <a:latin typeface="Tenor Sans"/>
                <a:ea typeface="Tenor Sans"/>
                <a:cs typeface="Tenor Sans"/>
                <a:sym typeface="Tenor Sans"/>
              </a:rPr>
              <a:t>奇幻世界</a:t>
            </a:r>
            <a:r>
              <a:rPr lang="en-US" sz="4800" spc="-96">
                <a:solidFill>
                  <a:srgbClr val="14140E"/>
                </a:solidFill>
                <a:latin typeface="Tenor Sans"/>
                <a:ea typeface="Tenor Sans"/>
                <a:cs typeface="Tenor Sans"/>
                <a:sym typeface="Tenor Sans"/>
              </a:rPr>
              <a:t>的幻想與扮演感</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D1CDBE"/>
        </a:solidFill>
      </p:bgPr>
    </p:bg>
    <p:spTree>
      <p:nvGrpSpPr>
        <p:cNvPr id="1" name=""/>
        <p:cNvGrpSpPr/>
        <p:nvPr/>
      </p:nvGrpSpPr>
      <p:grpSpPr>
        <a:xfrm>
          <a:off x="0" y="0"/>
          <a:ext cx="0" cy="0"/>
          <a:chOff x="0" y="0"/>
          <a:chExt cx="0" cy="0"/>
        </a:xfrm>
      </p:grpSpPr>
      <p:grpSp>
        <p:nvGrpSpPr>
          <p:cNvPr name="Group 2" id="2"/>
          <p:cNvGrpSpPr/>
          <p:nvPr/>
        </p:nvGrpSpPr>
        <p:grpSpPr>
          <a:xfrm rot="0">
            <a:off x="12172950" y="0"/>
            <a:ext cx="6115050" cy="10287000"/>
            <a:chOff x="0" y="0"/>
            <a:chExt cx="947381" cy="1593725"/>
          </a:xfrm>
        </p:grpSpPr>
        <p:sp>
          <p:nvSpPr>
            <p:cNvPr name="Freeform 3" id="3"/>
            <p:cNvSpPr/>
            <p:nvPr/>
          </p:nvSpPr>
          <p:spPr>
            <a:xfrm flipH="false" flipV="false" rot="0">
              <a:off x="0" y="0"/>
              <a:ext cx="947381" cy="1593725"/>
            </a:xfrm>
            <a:custGeom>
              <a:avLst/>
              <a:gdLst/>
              <a:ahLst/>
              <a:cxnLst/>
              <a:rect r="r" b="b" t="t" l="l"/>
              <a:pathLst>
                <a:path h="1593725" w="947381">
                  <a:moveTo>
                    <a:pt x="0" y="0"/>
                  </a:moveTo>
                  <a:lnTo>
                    <a:pt x="947381" y="0"/>
                  </a:lnTo>
                  <a:lnTo>
                    <a:pt x="947381" y="1593725"/>
                  </a:lnTo>
                  <a:lnTo>
                    <a:pt x="0" y="1593725"/>
                  </a:lnTo>
                  <a:close/>
                </a:path>
              </a:pathLst>
            </a:custGeom>
            <a:blipFill>
              <a:blip r:embed="rId2"/>
              <a:stretch>
                <a:fillRect l="-12958" t="0" r="-12958" b="0"/>
              </a:stretch>
            </a:blipFill>
          </p:spPr>
        </p:sp>
      </p:grpSp>
      <p:sp>
        <p:nvSpPr>
          <p:cNvPr name="TextBox 4" id="4"/>
          <p:cNvSpPr txBox="true"/>
          <p:nvPr/>
        </p:nvSpPr>
        <p:spPr>
          <a:xfrm rot="0">
            <a:off x="525234" y="562772"/>
            <a:ext cx="10117737" cy="2114550"/>
          </a:xfrm>
          <a:prstGeom prst="rect">
            <a:avLst/>
          </a:prstGeom>
        </p:spPr>
        <p:txBody>
          <a:bodyPr anchor="t" rtlCol="false" tIns="0" lIns="0" bIns="0" rIns="0">
            <a:spAutoFit/>
          </a:bodyPr>
          <a:lstStyle/>
          <a:p>
            <a:pPr algn="l" marL="0" indent="0" lvl="0">
              <a:lnSpc>
                <a:spcPts val="8399"/>
              </a:lnSpc>
            </a:pPr>
            <a:r>
              <a:rPr lang="en-US" sz="6999" spc="-139">
                <a:solidFill>
                  <a:srgbClr val="14140E"/>
                </a:solidFill>
                <a:latin typeface="Tenor Sans"/>
                <a:ea typeface="Tenor Sans"/>
                <a:cs typeface="Tenor Sans"/>
                <a:sym typeface="Tenor Sans"/>
              </a:rPr>
              <a:t>5.</a:t>
            </a:r>
            <a:r>
              <a:rPr lang="en-US" sz="6999" spc="-139">
                <a:solidFill>
                  <a:srgbClr val="14140E"/>
                </a:solidFill>
                <a:latin typeface="Tenor Sans"/>
                <a:ea typeface="Tenor Sans"/>
                <a:cs typeface="Tenor Sans"/>
                <a:sym typeface="Tenor Sans"/>
              </a:rPr>
              <a:t>我知道它很好，但自己不喜歡的一款遊戲？</a:t>
            </a:r>
          </a:p>
        </p:txBody>
      </p:sp>
      <p:sp>
        <p:nvSpPr>
          <p:cNvPr name="TextBox 5" id="5"/>
          <p:cNvSpPr txBox="true"/>
          <p:nvPr/>
        </p:nvSpPr>
        <p:spPr>
          <a:xfrm rot="0">
            <a:off x="4262437" y="4162235"/>
            <a:ext cx="9763125" cy="537845"/>
          </a:xfrm>
          <a:prstGeom prst="rect">
            <a:avLst/>
          </a:prstGeom>
        </p:spPr>
        <p:txBody>
          <a:bodyPr anchor="t" rtlCol="false" tIns="0" lIns="0" bIns="0" rIns="0">
            <a:spAutoFit/>
          </a:bodyPr>
          <a:lstStyle/>
          <a:p>
            <a:pPr algn="l" marL="0" indent="0" lvl="0">
              <a:lnSpc>
                <a:spcPts val="4480"/>
              </a:lnSpc>
              <a:spcBef>
                <a:spcPct val="0"/>
              </a:spcBef>
            </a:pPr>
            <a:r>
              <a:rPr lang="en-US" b="true" sz="3200">
                <a:solidFill>
                  <a:srgbClr val="14140E"/>
                </a:solidFill>
                <a:latin typeface="Clear Sans Bold"/>
                <a:ea typeface="Clear Sans Bold"/>
                <a:cs typeface="Clear Sans Bold"/>
                <a:sym typeface="Clear Sans Bold"/>
              </a:rPr>
              <a:t>天國降臨：救贖 2</a:t>
            </a:r>
          </a:p>
        </p:txBody>
      </p:sp>
      <p:grpSp>
        <p:nvGrpSpPr>
          <p:cNvPr name="Group 6" id="6"/>
          <p:cNvGrpSpPr/>
          <p:nvPr/>
        </p:nvGrpSpPr>
        <p:grpSpPr>
          <a:xfrm rot="0">
            <a:off x="348396" y="5185855"/>
            <a:ext cx="5612867" cy="2416448"/>
            <a:chOff x="0" y="0"/>
            <a:chExt cx="1478286" cy="636431"/>
          </a:xfrm>
        </p:grpSpPr>
        <p:sp>
          <p:nvSpPr>
            <p:cNvPr name="Freeform 7" id="7"/>
            <p:cNvSpPr/>
            <p:nvPr/>
          </p:nvSpPr>
          <p:spPr>
            <a:xfrm flipH="false" flipV="false" rot="0">
              <a:off x="0" y="0"/>
              <a:ext cx="1478286" cy="636431"/>
            </a:xfrm>
            <a:custGeom>
              <a:avLst/>
              <a:gdLst/>
              <a:ahLst/>
              <a:cxnLst/>
              <a:rect r="r" b="b" t="t" l="l"/>
              <a:pathLst>
                <a:path h="636431" w="1478286">
                  <a:moveTo>
                    <a:pt x="23448" y="0"/>
                  </a:moveTo>
                  <a:lnTo>
                    <a:pt x="1454838" y="0"/>
                  </a:lnTo>
                  <a:cubicBezTo>
                    <a:pt x="1467788" y="0"/>
                    <a:pt x="1478286" y="10498"/>
                    <a:pt x="1478286" y="23448"/>
                  </a:cubicBezTo>
                  <a:lnTo>
                    <a:pt x="1478286" y="612982"/>
                  </a:lnTo>
                  <a:cubicBezTo>
                    <a:pt x="1478286" y="625933"/>
                    <a:pt x="1467788" y="636431"/>
                    <a:pt x="1454838" y="636431"/>
                  </a:cubicBezTo>
                  <a:lnTo>
                    <a:pt x="23448" y="636431"/>
                  </a:lnTo>
                  <a:cubicBezTo>
                    <a:pt x="10498" y="636431"/>
                    <a:pt x="0" y="625933"/>
                    <a:pt x="0" y="612982"/>
                  </a:cubicBezTo>
                  <a:lnTo>
                    <a:pt x="0" y="23448"/>
                  </a:lnTo>
                  <a:cubicBezTo>
                    <a:pt x="0" y="10498"/>
                    <a:pt x="10498" y="0"/>
                    <a:pt x="23448" y="0"/>
                  </a:cubicBezTo>
                  <a:close/>
                </a:path>
              </a:pathLst>
            </a:custGeom>
            <a:solidFill>
              <a:srgbClr val="AFB276"/>
            </a:solidFill>
          </p:spPr>
        </p:sp>
        <p:sp>
          <p:nvSpPr>
            <p:cNvPr name="TextBox 8" id="8"/>
            <p:cNvSpPr txBox="true"/>
            <p:nvPr/>
          </p:nvSpPr>
          <p:spPr>
            <a:xfrm>
              <a:off x="0" y="-47625"/>
              <a:ext cx="1478286" cy="684056"/>
            </a:xfrm>
            <a:prstGeom prst="rect">
              <a:avLst/>
            </a:prstGeom>
          </p:spPr>
          <p:txBody>
            <a:bodyPr anchor="ctr" rtlCol="false" tIns="50800" lIns="50800" bIns="50800" rIns="50800"/>
            <a:lstStyle/>
            <a:p>
              <a:pPr algn="ctr">
                <a:lnSpc>
                  <a:spcPts val="3359"/>
                </a:lnSpc>
              </a:pPr>
            </a:p>
          </p:txBody>
        </p:sp>
      </p:grpSp>
      <p:sp>
        <p:nvSpPr>
          <p:cNvPr name="TextBox 9" id="9"/>
          <p:cNvSpPr txBox="true"/>
          <p:nvPr/>
        </p:nvSpPr>
        <p:spPr>
          <a:xfrm rot="0">
            <a:off x="488250" y="5267596"/>
            <a:ext cx="5333159" cy="2223770"/>
          </a:xfrm>
          <a:prstGeom prst="rect">
            <a:avLst/>
          </a:prstGeom>
        </p:spPr>
        <p:txBody>
          <a:bodyPr anchor="t" rtlCol="false" tIns="0" lIns="0" bIns="0" rIns="0">
            <a:spAutoFit/>
          </a:bodyPr>
          <a:lstStyle/>
          <a:p>
            <a:pPr algn="l">
              <a:lnSpc>
                <a:spcPts val="4480"/>
              </a:lnSpc>
              <a:spcBef>
                <a:spcPct val="0"/>
              </a:spcBef>
            </a:pPr>
            <a:r>
              <a:rPr lang="en-US" b="true" sz="3200">
                <a:solidFill>
                  <a:srgbClr val="14140E"/>
                </a:solidFill>
                <a:latin typeface="Clear Sans Bold"/>
                <a:ea typeface="Clear Sans Bold"/>
                <a:cs typeface="Clear Sans Bold"/>
                <a:sym typeface="Clear Sans Bold"/>
              </a:rPr>
              <a:t>我知道他是一款很擬真，</a:t>
            </a:r>
          </a:p>
          <a:p>
            <a:pPr algn="l">
              <a:lnSpc>
                <a:spcPts val="4480"/>
              </a:lnSpc>
              <a:spcBef>
                <a:spcPct val="0"/>
              </a:spcBef>
            </a:pPr>
            <a:r>
              <a:rPr lang="en-US" b="true" sz="3200">
                <a:solidFill>
                  <a:srgbClr val="14140E"/>
                </a:solidFill>
                <a:latin typeface="Clear Sans Bold"/>
                <a:ea typeface="Clear Sans Bold"/>
                <a:cs typeface="Clear Sans Bold"/>
                <a:sym typeface="Clear Sans Bold"/>
              </a:rPr>
              <a:t>很完全的還原了一個人們想像裡中世紀生活的角色扮演遊戲</a:t>
            </a:r>
          </a:p>
          <a:p>
            <a:pPr algn="l">
              <a:lnSpc>
                <a:spcPts val="4480"/>
              </a:lnSpc>
              <a:spcBef>
                <a:spcPct val="0"/>
              </a:spcBef>
            </a:pPr>
          </a:p>
        </p:txBody>
      </p:sp>
      <p:grpSp>
        <p:nvGrpSpPr>
          <p:cNvPr name="Group 10" id="10"/>
          <p:cNvGrpSpPr/>
          <p:nvPr/>
        </p:nvGrpSpPr>
        <p:grpSpPr>
          <a:xfrm rot="0">
            <a:off x="6444371" y="5185855"/>
            <a:ext cx="5612867" cy="2416448"/>
            <a:chOff x="0" y="0"/>
            <a:chExt cx="1478286" cy="636431"/>
          </a:xfrm>
        </p:grpSpPr>
        <p:sp>
          <p:nvSpPr>
            <p:cNvPr name="Freeform 11" id="11"/>
            <p:cNvSpPr/>
            <p:nvPr/>
          </p:nvSpPr>
          <p:spPr>
            <a:xfrm flipH="false" flipV="false" rot="0">
              <a:off x="0" y="0"/>
              <a:ext cx="1478286" cy="636431"/>
            </a:xfrm>
            <a:custGeom>
              <a:avLst/>
              <a:gdLst/>
              <a:ahLst/>
              <a:cxnLst/>
              <a:rect r="r" b="b" t="t" l="l"/>
              <a:pathLst>
                <a:path h="636431" w="1478286">
                  <a:moveTo>
                    <a:pt x="23448" y="0"/>
                  </a:moveTo>
                  <a:lnTo>
                    <a:pt x="1454838" y="0"/>
                  </a:lnTo>
                  <a:cubicBezTo>
                    <a:pt x="1467788" y="0"/>
                    <a:pt x="1478286" y="10498"/>
                    <a:pt x="1478286" y="23448"/>
                  </a:cubicBezTo>
                  <a:lnTo>
                    <a:pt x="1478286" y="612982"/>
                  </a:lnTo>
                  <a:cubicBezTo>
                    <a:pt x="1478286" y="625933"/>
                    <a:pt x="1467788" y="636431"/>
                    <a:pt x="1454838" y="636431"/>
                  </a:cubicBezTo>
                  <a:lnTo>
                    <a:pt x="23448" y="636431"/>
                  </a:lnTo>
                  <a:cubicBezTo>
                    <a:pt x="10498" y="636431"/>
                    <a:pt x="0" y="625933"/>
                    <a:pt x="0" y="612982"/>
                  </a:cubicBezTo>
                  <a:lnTo>
                    <a:pt x="0" y="23448"/>
                  </a:lnTo>
                  <a:cubicBezTo>
                    <a:pt x="0" y="10498"/>
                    <a:pt x="10498" y="0"/>
                    <a:pt x="23448" y="0"/>
                  </a:cubicBezTo>
                  <a:close/>
                </a:path>
              </a:pathLst>
            </a:custGeom>
            <a:solidFill>
              <a:srgbClr val="AFB276"/>
            </a:solidFill>
          </p:spPr>
        </p:sp>
        <p:sp>
          <p:nvSpPr>
            <p:cNvPr name="TextBox 12" id="12"/>
            <p:cNvSpPr txBox="true"/>
            <p:nvPr/>
          </p:nvSpPr>
          <p:spPr>
            <a:xfrm>
              <a:off x="0" y="-47625"/>
              <a:ext cx="1478286" cy="684056"/>
            </a:xfrm>
            <a:prstGeom prst="rect">
              <a:avLst/>
            </a:prstGeom>
          </p:spPr>
          <p:txBody>
            <a:bodyPr anchor="ctr" rtlCol="false" tIns="50800" lIns="50800" bIns="50800" rIns="50800"/>
            <a:lstStyle/>
            <a:p>
              <a:pPr algn="ctr">
                <a:lnSpc>
                  <a:spcPts val="3359"/>
                </a:lnSpc>
              </a:pPr>
            </a:p>
          </p:txBody>
        </p:sp>
      </p:grpSp>
      <p:sp>
        <p:nvSpPr>
          <p:cNvPr name="TextBox 13" id="13"/>
          <p:cNvSpPr txBox="true"/>
          <p:nvPr/>
        </p:nvSpPr>
        <p:spPr>
          <a:xfrm rot="0">
            <a:off x="6584225" y="5267596"/>
            <a:ext cx="5333159" cy="2223770"/>
          </a:xfrm>
          <a:prstGeom prst="rect">
            <a:avLst/>
          </a:prstGeom>
        </p:spPr>
        <p:txBody>
          <a:bodyPr anchor="t" rtlCol="false" tIns="0" lIns="0" bIns="0" rIns="0">
            <a:spAutoFit/>
          </a:bodyPr>
          <a:lstStyle/>
          <a:p>
            <a:pPr algn="l">
              <a:lnSpc>
                <a:spcPts val="4480"/>
              </a:lnSpc>
              <a:spcBef>
                <a:spcPct val="0"/>
              </a:spcBef>
            </a:pPr>
            <a:r>
              <a:rPr lang="en-US" b="true" sz="3200">
                <a:solidFill>
                  <a:srgbClr val="14140E"/>
                </a:solidFill>
                <a:latin typeface="Clear Sans Bold"/>
                <a:ea typeface="Clear Sans Bold"/>
                <a:cs typeface="Clear Sans Bold"/>
                <a:sym typeface="Clear Sans Bold"/>
              </a:rPr>
              <a:t>因為太過</a:t>
            </a:r>
            <a:r>
              <a:rPr lang="en-US" b="true" sz="3200">
                <a:solidFill>
                  <a:srgbClr val="14140E"/>
                </a:solidFill>
                <a:latin typeface="Clear Sans Bold"/>
                <a:ea typeface="Clear Sans Bold"/>
                <a:cs typeface="Clear Sans Bold"/>
                <a:sym typeface="Clear Sans Bold"/>
              </a:rPr>
              <a:t>擬真，使其大部分的遊戲內容旨在還原當時的感覺而喪失了部分的遊戲性導致無聊</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description>簡報 - 遊戲與我</dc:description>
  <dc:identifier>DAHVEB2FiVY</dc:identifier>
  <dcterms:modified xsi:type="dcterms:W3CDTF">2011-08-01T06:04:30Z</dcterms:modified>
  <cp:revision>1</cp:revision>
  <dc:title>TNDA-遊戲企劃與原理|W1</dc:title>
</cp:coreProperties>
</file>